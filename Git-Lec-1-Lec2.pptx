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6.xml"/><Relationship Id="rId1" Type="http://schemas.openxmlformats.org/officeDocument/2006/relationships/tags" Target="../tags/tag7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8.xml"/><Relationship Id="rId1" Type="http://schemas.openxmlformats.org/officeDocument/2006/relationships/tags" Target="../tags/tag77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tags" Target="../tags/tag79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4.xml"/><Relationship Id="rId2" Type="http://schemas.openxmlformats.org/officeDocument/2006/relationships/tags" Target="../tags/tag83.xml"/><Relationship Id="rId1" Type="http://schemas.openxmlformats.org/officeDocument/2006/relationships/tags" Target="../tags/tag82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7.xml"/><Relationship Id="rId2" Type="http://schemas.openxmlformats.org/officeDocument/2006/relationships/tags" Target="../tags/tag86.xml"/><Relationship Id="rId1" Type="http://schemas.openxmlformats.org/officeDocument/2006/relationships/tags" Target="../tags/tag85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91.xml"/><Relationship Id="rId3" Type="http://schemas.openxmlformats.org/officeDocument/2006/relationships/tags" Target="../tags/tag90.xml"/><Relationship Id="rId2" Type="http://schemas.openxmlformats.org/officeDocument/2006/relationships/tags" Target="../tags/tag89.xml"/><Relationship Id="rId1" Type="http://schemas.openxmlformats.org/officeDocument/2006/relationships/tags" Target="../tags/tag88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4.xml"/><Relationship Id="rId2" Type="http://schemas.openxmlformats.org/officeDocument/2006/relationships/tags" Target="../tags/tag93.xml"/><Relationship Id="rId1" Type="http://schemas.openxmlformats.org/officeDocument/2006/relationships/tags" Target="../tags/tag92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7.xml"/><Relationship Id="rId2" Type="http://schemas.openxmlformats.org/officeDocument/2006/relationships/tags" Target="../tags/tag96.xml"/><Relationship Id="rId1" Type="http://schemas.openxmlformats.org/officeDocument/2006/relationships/tags" Target="../tags/tag95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tags" Target="../tags/tag98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03.xml"/><Relationship Id="rId2" Type="http://schemas.openxmlformats.org/officeDocument/2006/relationships/tags" Target="../tags/tag102.xml"/><Relationship Id="rId1" Type="http://schemas.openxmlformats.org/officeDocument/2006/relationships/tags" Target="../tags/tag101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06.xml"/><Relationship Id="rId2" Type="http://schemas.openxmlformats.org/officeDocument/2006/relationships/tags" Target="../tags/tag105.xml"/><Relationship Id="rId1" Type="http://schemas.openxmlformats.org/officeDocument/2006/relationships/tags" Target="../tags/tag104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09.xml"/><Relationship Id="rId2" Type="http://schemas.openxmlformats.org/officeDocument/2006/relationships/tags" Target="../tags/tag108.xml"/><Relationship Id="rId1" Type="http://schemas.openxmlformats.org/officeDocument/2006/relationships/tags" Target="../tags/tag107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12.xml"/><Relationship Id="rId2" Type="http://schemas.openxmlformats.org/officeDocument/2006/relationships/tags" Target="../tags/tag111.xml"/><Relationship Id="rId1" Type="http://schemas.openxmlformats.org/officeDocument/2006/relationships/tags" Target="../tags/tag1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GIT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Introduction to Git</a:t>
            </a:r>
            <a:endParaRPr lang="en-US"/>
          </a:p>
          <a:p>
            <a:r>
              <a:rPr lang="en-US"/>
              <a:t>Instructor Tahir Mahmood</a:t>
            </a:r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Git &amp; Version Control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lvl="0" indent="0">
              <a:buNone/>
            </a:pPr>
            <a:r>
              <a:rPr lang="en-US" altLang="en-US">
                <a:solidFill>
                  <a:schemeClr val="tx1"/>
                </a:solidFill>
              </a:rPr>
              <a:t>1) What is Version Control? </a:t>
            </a:r>
            <a:endParaRPr lang="en-US" altLang="en-US">
              <a:solidFill>
                <a:schemeClr val="tx1"/>
              </a:solidFill>
            </a:endParaRPr>
          </a:p>
          <a:p>
            <a:pPr marL="0" lvl="0" indent="0">
              <a:buNone/>
            </a:pPr>
            <a:r>
              <a:rPr lang="en-US" altLang="en-US">
                <a:solidFill>
                  <a:schemeClr val="tx1"/>
                </a:solidFill>
              </a:rPr>
              <a:t>Version control is a system for tracking file modifications over time. It empowers you to:</a:t>
            </a:r>
            <a:endParaRPr lang="en-US" altLang="en-US">
              <a:solidFill>
                <a:schemeClr val="tx1"/>
              </a:solidFill>
            </a:endParaRPr>
          </a:p>
          <a:p>
            <a:pPr lvl="0"/>
            <a:r>
              <a:rPr lang="en-US" altLang="en-US">
                <a:solidFill>
                  <a:schemeClr val="tx1"/>
                </a:solidFill>
              </a:rPr>
              <a:t>Revert to previous project versions.</a:t>
            </a:r>
            <a:endParaRPr lang="en-US" altLang="en-US">
              <a:solidFill>
                <a:schemeClr val="tx1"/>
              </a:solidFill>
            </a:endParaRPr>
          </a:p>
          <a:p>
            <a:pPr lvl="0"/>
            <a:r>
              <a:rPr lang="en-US" altLang="en-US">
                <a:solidFill>
                  <a:schemeClr val="tx1"/>
                </a:solidFill>
              </a:rPr>
              <a:t>Compare contributions from multiple individuals.</a:t>
            </a:r>
            <a:endParaRPr lang="en-US" altLang="en-US">
              <a:solidFill>
                <a:schemeClr val="tx1"/>
              </a:solidFill>
            </a:endParaRPr>
          </a:p>
          <a:p>
            <a:pPr lvl="0"/>
            <a:r>
              <a:rPr lang="en-US" altLang="en-US">
                <a:solidFill>
                  <a:schemeClr val="tx1"/>
                </a:solidFill>
              </a:rPr>
              <a:t>Collaborate securely, preventing accidental overwrites.</a:t>
            </a:r>
            <a:endParaRPr lang="en-US" altLang="en-US">
              <a:solidFill>
                <a:schemeClr val="tx1"/>
              </a:solidFill>
            </a:endParaRPr>
          </a:p>
          <a:p>
            <a:pPr lvl="0"/>
            <a:r>
              <a:rPr lang="en-US" altLang="en-US">
                <a:solidFill>
                  <a:schemeClr val="tx1"/>
                </a:solidFill>
              </a:rPr>
              <a:t>Maintain a comprehensive development history.</a:t>
            </a:r>
            <a:endParaRPr lang="en-US" altLang="en-US">
              <a:solidFill>
                <a:schemeClr val="tx1"/>
              </a:solidFill>
            </a:endParaRPr>
          </a:p>
          <a:p>
            <a:pPr lvl="0"/>
            <a:r>
              <a:rPr lang="en-US" altLang="en-US">
                <a:solidFill>
                  <a:schemeClr val="tx1"/>
                </a:solidFill>
              </a:rPr>
              <a:t>Imagine it as a camera, capturing project snapshots at various stages.</a:t>
            </a:r>
            <a:endParaRPr lang="en-US" altLang="en-US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Why Git?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en-US" altLang="en-US">
                <a:solidFill>
                  <a:schemeClr val="tx1"/>
                </a:solidFill>
              </a:rPr>
              <a:t>Git is a distributed version control system. It is widely used in software development because it is:</a:t>
            </a:r>
            <a:endParaRPr lang="en-US" altLang="en-US">
              <a:solidFill>
                <a:schemeClr val="tx1"/>
              </a:solidFill>
            </a:endParaRPr>
          </a:p>
          <a:p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Fast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Flexible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Good for team work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Free and open-source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Supported by platforms like GitHub and GitLab</a:t>
            </a:r>
            <a:endParaRPr lang="en-US" altLang="en-US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Git Architecture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en-US">
                <a:solidFill>
                  <a:schemeClr val="tx1"/>
                </a:solidFill>
              </a:rPr>
              <a:t>Repository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Working Tree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Staging Area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Commit</a:t>
            </a:r>
            <a:endParaRPr lang="en-US" altLang="en-US">
              <a:solidFill>
                <a:schemeClr val="tx1"/>
              </a:solidFill>
            </a:endParaRPr>
          </a:p>
          <a:p>
            <a:endParaRPr lang="en-US" altLang="en-US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608330" y="794385"/>
            <a:ext cx="10968990" cy="5455285"/>
          </a:xfrm>
        </p:spPr>
        <p:txBody>
          <a:bodyPr/>
          <a:p>
            <a:pPr marL="0" indent="0">
              <a:buNone/>
            </a:pPr>
            <a:r>
              <a:rPr lang="en-US" altLang="en-US">
                <a:solidFill>
                  <a:schemeClr val="tx1"/>
                </a:solidFill>
              </a:rPr>
              <a:t>Repository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A repository (repo) is a project folder that Git tracks. It contains all project files and Git history.</a:t>
            </a:r>
            <a:endParaRPr lang="en-US" altLang="en-US">
              <a:solidFill>
                <a:schemeClr val="tx1"/>
              </a:solidFill>
            </a:endParaRPr>
          </a:p>
          <a:p>
            <a:endParaRPr lang="en-US" altLang="en-US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en-US">
                <a:solidFill>
                  <a:schemeClr val="tx1"/>
                </a:solidFill>
              </a:rPr>
              <a:t>Working Tree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The working tree is your current project folder on your computer. This is where you edit files.</a:t>
            </a:r>
            <a:endParaRPr lang="en-US" altLang="en-US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en-US" altLang="en-US">
                <a:solidFill>
                  <a:schemeClr val="tx1"/>
                </a:solidFill>
              </a:rPr>
              <a:t>Staging Area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The staging area is like a waiting room for changes before they are saved in Git.</a:t>
            </a:r>
            <a:endParaRPr lang="en-US" altLang="en-US">
              <a:solidFill>
                <a:schemeClr val="tx1"/>
              </a:solidFill>
            </a:endParaRPr>
          </a:p>
          <a:p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You edit files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You add them to the staging area using git add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Then you save them permanently with git commit</a:t>
            </a:r>
            <a:endParaRPr lang="en-US" altLang="en-US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Commit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en-US" altLang="en-US">
                <a:solidFill>
                  <a:schemeClr val="tx1"/>
                </a:solidFill>
              </a:rPr>
              <a:t>A commit is a saved version of your project. Each commit has:</a:t>
            </a:r>
            <a:endParaRPr lang="en-US" altLang="en-US">
              <a:solidFill>
                <a:schemeClr val="tx1"/>
              </a:solidFill>
            </a:endParaRPr>
          </a:p>
          <a:p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A message describing the change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A unique ID (hash)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A timestamp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This creates a timeline of project progress.</a:t>
            </a:r>
            <a:endParaRPr lang="en-US" altLang="en-US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Basic Git Workflow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en-US" altLang="en-US">
                <a:solidFill>
                  <a:schemeClr val="tx1"/>
                </a:solidFill>
              </a:rPr>
              <a:t>A common beginner workflow is:</a:t>
            </a:r>
            <a:endParaRPr lang="en-US" altLang="en-US">
              <a:solidFill>
                <a:schemeClr val="tx1"/>
              </a:solidFill>
            </a:endParaRPr>
          </a:p>
          <a:p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Create or open a project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Edit files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Check status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Stage files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Commit changes</a:t>
            </a:r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Repeat</a:t>
            </a:r>
            <a:endParaRPr lang="en-US" altLang="en-US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Git Configuration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10968990" cy="706120"/>
          </a:xfrm>
        </p:spPr>
        <p:txBody>
          <a:bodyPr/>
          <a:p>
            <a:r>
              <a:rPr lang="en-US" altLang="en-US">
                <a:solidFill>
                  <a:schemeClr val="tx1"/>
                </a:solidFill>
              </a:rPr>
              <a:t>Before using Git properly, you should configure your identity:</a:t>
            </a:r>
            <a:endParaRPr lang="en-US" altLang="en-US">
              <a:solidFill>
                <a:schemeClr val="tx1"/>
              </a:solidFill>
            </a:endParaRPr>
          </a:p>
          <a:p>
            <a:endParaRPr lang="en-US" altLang="en-US">
              <a:solidFill>
                <a:schemeClr val="tx1"/>
              </a:solidFill>
            </a:endParaRPr>
          </a:p>
        </p:txBody>
      </p:sp>
      <p:graphicFrame>
        <p:nvGraphicFramePr>
          <p:cNvPr id="4" name="Table 3"/>
          <p:cNvGraphicFramePr/>
          <p:nvPr/>
        </p:nvGraphicFramePr>
        <p:xfrm>
          <a:off x="1828800" y="2196465"/>
          <a:ext cx="853440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44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git config --global user.name "Your Name"</a:t>
                      </a:r>
                      <a:endParaRPr lang="en-US" altLang="en-US"/>
                    </a:p>
                    <a:p>
                      <a:pPr>
                        <a:buNone/>
                      </a:pPr>
                      <a:r>
                        <a:rPr lang="en-US" altLang="en-US"/>
                        <a:t>git config --global user.email "your.email@example.com"</a:t>
                      </a:r>
                      <a:endParaRPr lang="en-US" altLang="en-US"/>
                    </a:p>
                    <a:p>
                      <a:pPr>
                        <a:buNone/>
                      </a:pPr>
                      <a:endParaRPr lang="en-US" altLang="en-US"/>
                    </a:p>
                  </a:txBody>
                  <a:tcPr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sp>
        <p:nvSpPr>
          <p:cNvPr id="5" name="Text Box 4"/>
          <p:cNvSpPr txBox="1"/>
          <p:nvPr/>
        </p:nvSpPr>
        <p:spPr>
          <a:xfrm>
            <a:off x="878205" y="3601720"/>
            <a:ext cx="7757795" cy="3371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sz="1600" b="0" i="0">
                <a:solidFill>
                  <a:schemeClr val="tx1"/>
                </a:solidFill>
                <a:latin typeface="Arial" panose="020B0604020202020204" pitchFamily="34" charset="0"/>
                <a:ea typeface="-apple-system"/>
                <a:cs typeface="Arial" panose="020B0604020202020204" pitchFamily="34" charset="0"/>
              </a:rPr>
              <a:t>These details are added to each commit so others know who made the change.</a:t>
            </a:r>
            <a:endParaRPr sz="1600" b="0" i="0">
              <a:solidFill>
                <a:schemeClr val="tx1"/>
              </a:solidFill>
              <a:latin typeface="Arial" panose="020B0604020202020204" pitchFamily="34" charset="0"/>
              <a:ea typeface="-apple-system"/>
              <a:cs typeface="Arial" panose="020B0604020202020204" pitchFamily="3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Autofit/>
          </a:bodyPr>
          <a:p>
            <a:r>
              <a:rPr lang="en-US" altLang="en-US" sz="4400"/>
              <a:t>Basic Git Commands</a:t>
            </a:r>
            <a:endParaRPr lang="en-US" altLang="en-US" sz="4400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2"/>
            </p:custDataLst>
          </p:nvPr>
        </p:nvGraphicFramePr>
        <p:xfrm>
          <a:off x="608330" y="2778760"/>
          <a:ext cx="1096899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6899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git init</a:t>
                      </a:r>
                      <a:endParaRPr lang="en-US" altLang="en-US"/>
                    </a:p>
                  </a:txBody>
                  <a:tcPr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sp>
        <p:nvSpPr>
          <p:cNvPr id="3" name="Text Box 2"/>
          <p:cNvSpPr txBox="1"/>
          <p:nvPr/>
        </p:nvSpPr>
        <p:spPr>
          <a:xfrm>
            <a:off x="608965" y="2230437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/>
            <a:r>
              <a:rPr sz="1600" b="0" i="0">
                <a:solidFill>
                  <a:schemeClr val="tx1"/>
                </a:solidFill>
                <a:latin typeface="Arial" panose="020B0604020202020204" pitchFamily="34" charset="0"/>
                <a:ea typeface="-apple-system"/>
                <a:cs typeface="Arial" panose="020B0604020202020204" pitchFamily="34" charset="0"/>
              </a:rPr>
              <a:t>Creates a new Git repository in the current folder.</a:t>
            </a:r>
            <a:endParaRPr sz="1600" b="0" i="0">
              <a:solidFill>
                <a:schemeClr val="tx1"/>
              </a:solidFill>
              <a:latin typeface="Arial" panose="020B0604020202020204" pitchFamily="34" charset="0"/>
              <a:ea typeface="-apple-system"/>
              <a:cs typeface="Arial" panose="020B0604020202020204" pitchFamily="34" charset="0"/>
            </a:endParaRPr>
          </a:p>
        </p:txBody>
      </p:sp>
      <p:sp>
        <p:nvSpPr>
          <p:cNvPr id="6" name="Title 1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08965" y="1524635"/>
            <a:ext cx="11061065" cy="705485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/>
              <a:t>git init</a:t>
            </a:r>
            <a:endParaRPr lang="en-US" altLang="en-US"/>
          </a:p>
        </p:txBody>
      </p:sp>
    </p:spTree>
    <p:custDataLst>
      <p:tags r:id="rId4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git status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en-US">
                <a:solidFill>
                  <a:schemeClr val="tx1"/>
                </a:solidFill>
              </a:rPr>
              <a:t>Shows which files are modified, staged, or untracked.</a:t>
            </a:r>
            <a:endParaRPr lang="en-US" altLang="en-US">
              <a:solidFill>
                <a:schemeClr val="tx1"/>
              </a:solidFill>
            </a:endParaRPr>
          </a:p>
          <a:p>
            <a:endParaRPr lang="en-US" altLang="en-US">
              <a:solidFill>
                <a:schemeClr val="tx1"/>
              </a:solidFill>
            </a:endParaRPr>
          </a:p>
        </p:txBody>
      </p:sp>
      <p:graphicFrame>
        <p:nvGraphicFramePr>
          <p:cNvPr id="4" name="Table 3"/>
          <p:cNvGraphicFramePr/>
          <p:nvPr/>
        </p:nvGraphicFramePr>
        <p:xfrm>
          <a:off x="608330" y="2201545"/>
          <a:ext cx="853440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44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git status</a:t>
                      </a:r>
                      <a:endParaRPr lang="en-US"/>
                    </a:p>
                  </a:txBody>
                  <a:tcPr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en-US" altLang="en-US"/>
              <a:t>git add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en-US">
                <a:solidFill>
                  <a:schemeClr val="tx1"/>
                </a:solidFill>
              </a:rPr>
              <a:t>Adds files to the staging area.</a:t>
            </a:r>
            <a:endParaRPr lang="en-US" altLang="en-US">
              <a:solidFill>
                <a:schemeClr val="tx1"/>
              </a:solidFill>
            </a:endParaRPr>
          </a:p>
          <a:p>
            <a:endParaRPr lang="en-US" altLang="en-US">
              <a:solidFill>
                <a:schemeClr val="tx1"/>
              </a:solidFill>
            </a:endParaRPr>
          </a:p>
          <a:p>
            <a:endParaRPr lang="en-US" altLang="en-US">
              <a:solidFill>
                <a:schemeClr val="tx1"/>
              </a:solidFill>
            </a:endParaRPr>
          </a:p>
          <a:p>
            <a:endParaRPr lang="en-US" altLang="en-US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en-US">
                <a:solidFill>
                  <a:schemeClr val="tx1"/>
                </a:solidFill>
              </a:rPr>
              <a:t>git add filename.txt adds a specific file</a:t>
            </a:r>
            <a:endParaRPr lang="en-US" altLang="en-US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en-US">
                <a:solidFill>
                  <a:schemeClr val="tx1"/>
                </a:solidFill>
              </a:rPr>
              <a:t>git add . adds all changed files in the current folder</a:t>
            </a:r>
            <a:endParaRPr lang="en-US" altLang="en-US">
              <a:solidFill>
                <a:schemeClr val="tx1"/>
              </a:solidFill>
            </a:endParaRPr>
          </a:p>
        </p:txBody>
      </p:sp>
      <p:graphicFrame>
        <p:nvGraphicFramePr>
          <p:cNvPr id="5" name="Table 4"/>
          <p:cNvGraphicFramePr/>
          <p:nvPr/>
        </p:nvGraphicFramePr>
        <p:xfrm>
          <a:off x="1092835" y="2142490"/>
          <a:ext cx="853440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44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git add filename.txt</a:t>
                      </a:r>
                      <a:endParaRPr lang="en-US" altLang="en-US"/>
                    </a:p>
                    <a:p>
                      <a:pPr>
                        <a:buNone/>
                      </a:pPr>
                      <a:r>
                        <a:rPr lang="en-US" altLang="en-US"/>
                        <a:t>git add .</a:t>
                      </a:r>
                      <a:endParaRPr lang="en-US" altLang="en-US"/>
                    </a:p>
                    <a:p>
                      <a:pPr>
                        <a:buNone/>
                      </a:pPr>
                      <a:endParaRPr lang="en-US" altLang="en-US"/>
                    </a:p>
                  </a:txBody>
                  <a:tcPr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git commit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en-US">
                <a:solidFill>
                  <a:schemeClr val="tx1"/>
                </a:solidFill>
              </a:rPr>
              <a:t>Saves the staged changes as a new commit.</a:t>
            </a:r>
            <a:endParaRPr lang="en-US" altLang="en-US">
              <a:solidFill>
                <a:schemeClr val="tx1"/>
              </a:solidFill>
            </a:endParaRPr>
          </a:p>
          <a:p>
            <a:endParaRPr lang="en-US" altLang="en-US">
              <a:solidFill>
                <a:schemeClr val="tx1"/>
              </a:solidFill>
            </a:endParaRPr>
          </a:p>
          <a:p>
            <a:endParaRPr lang="en-US" altLang="en-US">
              <a:solidFill>
                <a:schemeClr val="tx1"/>
              </a:solidFill>
            </a:endParaRPr>
          </a:p>
          <a:p>
            <a:r>
              <a:rPr lang="en-US" altLang="en-US">
                <a:solidFill>
                  <a:schemeClr val="tx1"/>
                </a:solidFill>
              </a:rPr>
              <a:t>The commit message should be short and meaningful.</a:t>
            </a:r>
            <a:endParaRPr lang="en-US" altLang="en-US">
              <a:solidFill>
                <a:schemeClr val="tx1"/>
              </a:solidFill>
            </a:endParaRPr>
          </a:p>
        </p:txBody>
      </p:sp>
      <p:graphicFrame>
        <p:nvGraphicFramePr>
          <p:cNvPr id="4" name="Table 3"/>
          <p:cNvGraphicFramePr/>
          <p:nvPr/>
        </p:nvGraphicFramePr>
        <p:xfrm>
          <a:off x="857885" y="2079625"/>
          <a:ext cx="853440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44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git commit -m "Add homepage design"</a:t>
                      </a:r>
                      <a:endParaRPr lang="en-US" altLang="en-US"/>
                    </a:p>
                    <a:p>
                      <a:pPr>
                        <a:buNone/>
                      </a:pPr>
                      <a:endParaRPr lang="en-US" altLang="en-US"/>
                    </a:p>
                  </a:txBody>
                  <a:tcPr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git log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10968990" cy="486410"/>
          </a:xfrm>
        </p:spPr>
        <p:txBody>
          <a:bodyPr/>
          <a:p>
            <a:r>
              <a:rPr lang="en-US" altLang="en-US">
                <a:solidFill>
                  <a:schemeClr val="tx1"/>
                </a:solidFill>
              </a:rPr>
              <a:t>Shows the history of commits.</a:t>
            </a:r>
            <a:endParaRPr lang="en-US" altLang="en-US">
              <a:solidFill>
                <a:schemeClr val="tx1"/>
              </a:solidFill>
            </a:endParaRPr>
          </a:p>
        </p:txBody>
      </p:sp>
      <p:graphicFrame>
        <p:nvGraphicFramePr>
          <p:cNvPr id="4" name="Table 3"/>
          <p:cNvGraphicFramePr/>
          <p:nvPr/>
        </p:nvGraphicFramePr>
        <p:xfrm>
          <a:off x="608330" y="2153285"/>
          <a:ext cx="853440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44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git log</a:t>
                      </a:r>
                      <a:endParaRPr lang="en-US" altLang="en-US"/>
                    </a:p>
                    <a:p>
                      <a:pPr>
                        <a:buNone/>
                      </a:pPr>
                      <a:endParaRPr lang="en-US" altLang="en-US"/>
                    </a:p>
                  </a:txBody>
                  <a:tcPr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git diff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10968990" cy="610870"/>
          </a:xfrm>
        </p:spPr>
        <p:txBody>
          <a:bodyPr/>
          <a:p>
            <a:r>
              <a:rPr lang="en-US" altLang="en-US">
                <a:solidFill>
                  <a:schemeClr val="tx1"/>
                </a:solidFill>
              </a:rPr>
              <a:t>Shows the difference between versions.</a:t>
            </a:r>
            <a:endParaRPr lang="en-US" altLang="en-US">
              <a:solidFill>
                <a:schemeClr val="tx1"/>
              </a:solidFill>
            </a:endParaRPr>
          </a:p>
        </p:txBody>
      </p:sp>
      <p:graphicFrame>
        <p:nvGraphicFramePr>
          <p:cNvPr id="4" name="Table 3"/>
          <p:cNvGraphicFramePr/>
          <p:nvPr/>
        </p:nvGraphicFramePr>
        <p:xfrm>
          <a:off x="608330" y="2101215"/>
          <a:ext cx="853440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44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git diff</a:t>
                      </a:r>
                      <a:endParaRPr lang="en-US" altLang="en-US"/>
                    </a:p>
                    <a:p>
                      <a:pPr>
                        <a:buNone/>
                      </a:pPr>
                      <a:endParaRPr lang="en-US" altLang="en-US"/>
                    </a:p>
                  </a:txBody>
                  <a:tcPr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git checkout / git switch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10968990" cy="998220"/>
          </a:xfrm>
        </p:spPr>
        <p:txBody>
          <a:bodyPr/>
          <a:p>
            <a:r>
              <a:rPr lang="en-US" altLang="en-US">
                <a:solidFill>
                  <a:schemeClr val="tx1"/>
                </a:solidFill>
              </a:rPr>
              <a:t>Used to move between different states or branches of the project.</a:t>
            </a:r>
            <a:endParaRPr lang="en-US" altLang="en-US">
              <a:solidFill>
                <a:schemeClr val="tx1"/>
              </a:solidFill>
            </a:endParaRPr>
          </a:p>
        </p:txBody>
      </p:sp>
      <p:graphicFrame>
        <p:nvGraphicFramePr>
          <p:cNvPr id="4" name="Table 3"/>
          <p:cNvGraphicFramePr/>
          <p:nvPr/>
        </p:nvGraphicFramePr>
        <p:xfrm>
          <a:off x="608330" y="2173605"/>
          <a:ext cx="853440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44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git switch main</a:t>
                      </a:r>
                      <a:endParaRPr lang="en-US" altLang="en-US"/>
                    </a:p>
                    <a:p>
                      <a:pPr>
                        <a:buNone/>
                      </a:pPr>
                      <a:endParaRPr lang="en-US" altLang="en-US"/>
                    </a:p>
                  </a:txBody>
                  <a:tcPr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en-US"/>
              <a:t>Important Terms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/>
          </a:bodyPr>
          <a:p>
            <a:pPr marL="0" indent="0">
              <a:buNone/>
            </a:pPr>
            <a:r>
              <a:rPr lang="en-US" altLang="en-US" b="1">
                <a:solidFill>
                  <a:schemeClr val="tx1"/>
                </a:solidFill>
              </a:rPr>
              <a:t>Repository: The project folder being tracked by Git.</a:t>
            </a:r>
            <a:endParaRPr lang="en-US" altLang="en-US" b="1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altLang="en-US" b="1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en-US" b="1">
                <a:solidFill>
                  <a:schemeClr val="tx1"/>
                </a:solidFill>
              </a:rPr>
              <a:t>Working Directory: Where you work on files.</a:t>
            </a:r>
            <a:endParaRPr lang="en-US" altLang="en-US" b="1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altLang="en-US" b="1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en-US" b="1">
                <a:solidFill>
                  <a:schemeClr val="tx1"/>
                </a:solidFill>
              </a:rPr>
              <a:t>Staging Area: Where files wait before being committed.</a:t>
            </a:r>
            <a:endParaRPr lang="en-US" altLang="en-US" b="1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altLang="en-US" b="1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en-US" b="1">
                <a:solidFill>
                  <a:schemeClr val="tx1"/>
                </a:solidFill>
              </a:rPr>
              <a:t>Commit: A saved milestone in the project history.</a:t>
            </a:r>
            <a:endParaRPr lang="en-US" altLang="en-US" b="1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altLang="en-US" b="1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en-US" b="1">
                <a:solidFill>
                  <a:schemeClr val="tx1"/>
                </a:solidFill>
              </a:rPr>
              <a:t>Branch: A separate line of development (discussed more in L8).</a:t>
            </a:r>
            <a:endParaRPr lang="en-US" altLang="en-US" b="1">
              <a:solidFill>
                <a:schemeClr val="tx1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  <p:tag name="wpp_generatetext" val="1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  <p:tag name="TABLE_ENDDRAG_ORIGIN_RECT" val="863*6"/>
  <p:tag name="TABLE_ENDDRAG_RECT" val="47*141*863*6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2596</Words>
  <Application>WPS Presentation</Application>
  <PresentationFormat>Widescreen</PresentationFormat>
  <Paragraphs>148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9" baseType="lpstr">
      <vt:lpstr>Arial</vt:lpstr>
      <vt:lpstr>SimSun</vt:lpstr>
      <vt:lpstr>Wingdings</vt:lpstr>
      <vt:lpstr>Wingdings</vt:lpstr>
      <vt:lpstr>-apple-system</vt:lpstr>
      <vt:lpstr>Segoe Print</vt:lpstr>
      <vt:lpstr>Microsoft YaHei</vt:lpstr>
      <vt:lpstr>Arial Unicode MS</vt:lpstr>
      <vt:lpstr>Calibri</vt:lpstr>
      <vt:lpstr>Consolas</vt:lpstr>
      <vt:lpstr>Arial</vt:lpstr>
      <vt:lpstr>WPS</vt:lpstr>
      <vt:lpstr>GIT</vt:lpstr>
      <vt:lpstr>Git &amp; Version Control</vt:lpstr>
      <vt:lpstr>Why Git?</vt:lpstr>
      <vt:lpstr>Git Architecture</vt:lpstr>
      <vt:lpstr>PowerPoint 演示文稿</vt:lpstr>
      <vt:lpstr>PowerPoint 演示文稿</vt:lpstr>
      <vt:lpstr>Commit</vt:lpstr>
      <vt:lpstr>Basic Git Workflow</vt:lpstr>
      <vt:lpstr>Git Configuration</vt:lpstr>
      <vt:lpstr>Basic Git Commands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creator/>
  <cp:lastModifiedBy>Tahir Mahmood</cp:lastModifiedBy>
  <cp:revision>3</cp:revision>
  <dcterms:created xsi:type="dcterms:W3CDTF">2026-10-08T00:47:00Z</dcterms:created>
  <dcterms:modified xsi:type="dcterms:W3CDTF">2026-10-08T00:56:47Z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1033-12.1.0.28485</vt:lpwstr>
  </property>
  <property fmtid="{D5CDD505-2E9C-101B-9397-08002B2CF9AE}" pid="3" name="ICV">
    <vt:lpwstr>59592254AE61499C831465539169EE0F_12</vt:lpwstr>
  </property>
</Properties>
</file>